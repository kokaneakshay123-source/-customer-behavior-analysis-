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Red Hat Text Medium"/>
      <p:regular r:id="rId201314"/>
    </p:embeddedFont>
    <p:embeddedFont>
      <p:font typeface="Red Hat Text SemiBold"/>
      <p:regular r:id="rId201315"/>
    </p:embeddedFont>
    <p:embeddedFont>
      <p:font typeface="Red Hat Text Bold"/>
      <p:regular r:id="rId201316"/>
    </p:embeddedFont>
    <p:embeddedFont>
      <p:font typeface="Red Hat Text Light"/>
      <p:regular r:id="rId201317"/>
    </p:embeddedFont>
    <p:embeddedFont>
      <p:font typeface="Red Hat Text"/>
      <p:regular r:id="rId201318"/>
    </p:embeddedFont>
    <p:embeddedFont>
      <p:font typeface="Roboto Light"/>
      <p:regular r:id="rId201319"/>
    </p:embeddedFont>
    <p:embeddedFont>
      <p:font typeface="Roboto"/>
      <p:regular r:id="rId201320"/>
    </p:embeddedFont>
    <p:embeddedFont>
      <p:font typeface="Roboto Thin"/>
      <p:regular r:id="rId201321"/>
    </p:embeddedFont>
    <p:embeddedFont>
      <p:font typeface="Roboto ExtraLight"/>
      <p:regular r:id="rId201322"/>
    </p:embeddedFont>
    <p:embeddedFont>
      <p:font typeface="Roboto Medium"/>
      <p:regular r:id="rId201323"/>
    </p:embeddedFont>
    <p:embeddedFont>
      <p:font typeface="Roboto SemiBold"/>
      <p:regular r:id="rId201324"/>
    </p:embeddedFont>
    <p:embeddedFont>
      <p:font typeface="Roboto Bold"/>
      <p:regular r:id="rId201325"/>
    </p:embeddedFont>
    <p:embeddedFont>
      <p:font typeface="Roboto ExtraBold"/>
      <p:regular r:id="rId201326"/>
    </p:embeddedFont>
    <p:embeddedFont>
      <p:font typeface="Roboto Black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924422"/>
            <a:ext cx="4667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F1E1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Customer Behavior Analysis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3577" y="2500833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Key findings from analyzing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customer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via SQL and Power BI — who is spending, what they're buying, and where the opportunities lie.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9125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Numbers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26555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407221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Customers Analyzed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65464" y="1726555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$233K</a:t>
            </a:r>
            <a:endParaRPr lang="en-US" sz="3850" dirty="0"/>
          </a:p>
        </p:txBody>
      </p:sp>
      <p:sp>
        <p:nvSpPr>
          <p:cNvPr id="6" name="Text 4"/>
          <p:cNvSpPr/>
          <p:nvPr/>
        </p:nvSpPr>
        <p:spPr>
          <a:xfrm>
            <a:off x="4665464" y="2407221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23577" y="3001194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$59.76</a:t>
            </a:r>
            <a:endParaRPr lang="en-US" sz="3850" dirty="0"/>
          </a:p>
        </p:txBody>
      </p:sp>
      <p:sp>
        <p:nvSpPr>
          <p:cNvPr id="8" name="Text 6"/>
          <p:cNvSpPr/>
          <p:nvPr/>
        </p:nvSpPr>
        <p:spPr>
          <a:xfrm>
            <a:off x="523577" y="3681859"/>
            <a:ext cx="395488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Avg. Purchase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5464" y="3001194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3.75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4665464" y="3681859"/>
            <a:ext cx="3954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Avg. Review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65464" y="399157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Out of 5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579611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Who Is Spending, and How Much?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683990"/>
            <a:ext cx="4667845" cy="1365126"/>
          </a:xfrm>
          <a:prstGeom prst="roundRect">
            <a:avLst>
              <a:gd name="adj" fmla="val 1644"/>
            </a:avLst>
          </a:prstGeom>
          <a:solidFill>
            <a:srgbClr val="FFFAFA"/>
          </a:solidFill>
          <a:ln w="19050">
            <a:solidFill>
              <a:srgbClr val="D9CEC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21200" y="1852613"/>
            <a:ext cx="43306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Gender Gap Is About Volume, Not Spend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21200" y="2162324"/>
            <a:ext cx="43306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females — but this is driven by 2× more male customers (2,652 vs. 1,248). Average spend per transaction is broadly similar across genders.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952577" y="3198688"/>
            <a:ext cx="4667845" cy="1365126"/>
          </a:xfrm>
          <a:prstGeom prst="roundRect">
            <a:avLst>
              <a:gd name="adj" fmla="val 1644"/>
            </a:avLst>
          </a:prstGeom>
          <a:solidFill>
            <a:srgbClr val="FFFAFA"/>
          </a:solidFill>
          <a:ln w="19050">
            <a:solidFill>
              <a:srgbClr val="D9CEC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21200" y="3367311"/>
            <a:ext cx="43306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Revenue Spread Evenly Across Ages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21200" y="3677022"/>
            <a:ext cx="43306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Young Adults lead at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but the spread between all four age groups is under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$7K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the product range appeals broadly, not skewed to one generation.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What Are Customers Buying?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Clothing Dominates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Clothing drives roughly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$104K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in revenue and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3.4M units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more than double Accessories (~$74K / 2.4M units). Outerwear trails at ~$19K.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759226" y="2731145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Most-Loved Products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59226" y="3100685"/>
            <a:ext cx="386595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Gloves (3.86★), Sandals (3.84★), Boots (3.82★), Hats (3.80★), and Skirts (3.79★) top review ratings — worth featuring more prominently.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3072"/>
            <a:ext cx="809684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Are Discounts Working as Expected?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23577" y="2380878"/>
            <a:ext cx="3957191" cy="10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Heavy Discount Usage in Key Categories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523577" y="2528218"/>
            <a:ext cx="3957191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Hats (50.0%), Sneakers (49.7%), Coats (49.1%), Sweaters (48.2%), and Pants (47.4%) all have ~50% discount-usage rates — almost every other purchase involves a discount.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523577" y="2749748"/>
            <a:ext cx="3957191" cy="284113"/>
          </a:xfrm>
          <a:prstGeom prst="roundRect">
            <a:avLst>
              <a:gd name="adj" fmla="val 3949"/>
            </a:avLst>
          </a:prstGeom>
          <a:solidFill>
            <a:srgbClr val="FAD1D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63" y="2844403"/>
            <a:ext cx="93464" cy="74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6614" y="2802062"/>
            <a:ext cx="3639369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839 customers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used a discount and still spent at or above the overall average of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$59.76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discounting isn't purely cannibalizing full-price sales.</a:t>
            </a:r>
            <a:endParaRPr lang="en-US" sz="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994" y="731118"/>
            <a:ext cx="3957191" cy="3957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233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Does Being a Subscriber Change Behavior?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3577" y="1541562"/>
            <a:ext cx="8096845" cy="1304255"/>
          </a:xfrm>
          <a:prstGeom prst="roundRect">
            <a:avLst>
              <a:gd name="adj" fmla="val 17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977107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410271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78088" y="1541562"/>
            <a:ext cx="9351" cy="130425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46874" y="1541562"/>
            <a:ext cx="9351" cy="130425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77987" y="1640830"/>
            <a:ext cx="290534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Status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30042" y="1640830"/>
            <a:ext cx="28220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98828" y="1640830"/>
            <a:ext cx="282446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Avg. Spend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7987" y="2073994"/>
            <a:ext cx="290534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Non-Subscribers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30042" y="2073994"/>
            <a:ext cx="28220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2,847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98828" y="2073994"/>
            <a:ext cx="282446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$59.87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77987" y="2507159"/>
            <a:ext cx="2905348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30042" y="2507159"/>
            <a:ext cx="282207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1,053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98828" y="2507159"/>
            <a:ext cx="282446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$59.49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23577" y="3014067"/>
            <a:ext cx="3973637" cy="1327026"/>
          </a:xfrm>
          <a:prstGeom prst="roundRect">
            <a:avLst>
              <a:gd name="adj" fmla="val 1691"/>
            </a:avLst>
          </a:prstGeom>
          <a:solidFill>
            <a:srgbClr val="F3E8E8"/>
          </a:solidFill>
          <a:ln/>
        </p:spPr>
      </p:sp>
      <p:sp>
        <p:nvSpPr>
          <p:cNvPr id="18" name="Text 16"/>
          <p:cNvSpPr/>
          <p:nvPr/>
        </p:nvSpPr>
        <p:spPr>
          <a:xfrm>
            <a:off x="673150" y="3163639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 Spending Difference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73150" y="3473351"/>
            <a:ext cx="36744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7.3%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of customers are subscribers, and their spend is nearly identical to non-subscribers. The program isn't currently a spending lever.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46786" y="3014067"/>
            <a:ext cx="3973637" cy="1327026"/>
          </a:xfrm>
          <a:prstGeom prst="roundRect">
            <a:avLst>
              <a:gd name="adj" fmla="val 1691"/>
            </a:avLst>
          </a:prstGeom>
          <a:solidFill>
            <a:srgbClr val="F3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4796358" y="3163639"/>
            <a:ext cx="367449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Loyal Customers Haven't Converted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796358" y="3473351"/>
            <a:ext cx="36744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Among customers with 5+ previous purchases,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72% are still non-subscribers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(2,518 vs. 958). A large pool of loyal customers the program hasn't reached.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0039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How Loyal Is the Customer Base?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955625" y="2017142"/>
            <a:ext cx="172514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80%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316" y="1140544"/>
            <a:ext cx="2103909" cy="2103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3410992"/>
            <a:ext cx="2589386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Loyal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3577" y="3696146"/>
            <a:ext cx="2589386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More than 10 previous purchases (3,116 customers)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09318" y="2017142"/>
            <a:ext cx="172514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18%</a:t>
            </a:r>
            <a:endParaRPr lang="en-US" sz="2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008" y="1140544"/>
            <a:ext cx="2103909" cy="21039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7270" y="3410992"/>
            <a:ext cx="2589386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Returning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277270" y="3696146"/>
            <a:ext cx="2589386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2–10 purchases (701 customers)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63010" y="2017142"/>
            <a:ext cx="1725141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7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2%</a:t>
            </a:r>
            <a:endParaRPr lang="en-US" sz="2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701" y="1140544"/>
            <a:ext cx="2103909" cy="21039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30962" y="3410992"/>
            <a:ext cx="2589461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New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030962" y="3696146"/>
            <a:ext cx="2589461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Only 1 purchase (83 customers)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23577" y="4278734"/>
            <a:ext cx="809684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Retention is clearly strong — but the tiny </a:t>
            </a:r>
            <a:pPr algn="l" indent="0" marL="0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2% New</a:t>
            </a:r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segment suggests the business relies heavily on its existing base rather than bringing in fresh customers.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Shipping Choice &amp; Spending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Express Shippers Spend More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Customers who pay for faster shipping average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Standard — a small but consistent gap suggesting a slightly higher willingness to pay among customers who value speed.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435"/>
            <a:ext cx="8096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Summary of Key Findings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523577" y="1010469"/>
            <a:ext cx="8096845" cy="3722638"/>
          </a:xfrm>
          <a:prstGeom prst="roundRect">
            <a:avLst>
              <a:gd name="adj" fmla="val 5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1350838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1688827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026816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364804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702793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3040782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378771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577" y="3716759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3577" y="4054748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3577" y="4392737"/>
            <a:ext cx="8096845" cy="803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56853" y="1086222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Area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87415" y="1086222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b="1" dirty="0">
                <a:solidFill>
                  <a:srgbClr val="3B3535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6853" y="1424211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Revenue by Gender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87415" y="1424211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Male share higher — driven by customer count, not spend-per-order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853" y="1762199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Revenue by Age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87415" y="1762199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Evenly spread; Young Adults lead marginally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6853" y="2100188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Top Category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87415" y="2100188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Clothing leads in revenue ($104K) and volume (3.4M units)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6853" y="2438177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Best-Rated Products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87415" y="2438177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Gloves, Sandals, Boots, Hats, Skirts (3.79–3.86★)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6853" y="2776165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Discount Usage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87415" y="2776165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~50% of Hats, Sneakers, Coats, Sweaters, Pants sold with discount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853" y="3114154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Discounts vs. Spend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87415" y="3114154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839 customers spent above average despite using a discount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6853" y="3452143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 vs. Non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87415" y="3452143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Near-identical avg. spend ($59.49 vs. $59.87)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6853" y="3790131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Repeat Buyers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87415" y="3790131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72% of frequent buyers are still not subscribers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6853" y="4128120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Loyalty Mix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7415" y="4128120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80% Loyal, 18% Returning, only 2% New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6853" y="4466109"/>
            <a:ext cx="3030736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Shipping &amp; Spend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87415" y="4466109"/>
            <a:ext cx="5456932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Express shippers spend slightly more ($60.48 vs. $58.46)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768"/>
            <a:ext cx="8096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What This Means for the Business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1131503"/>
            <a:ext cx="210369" cy="210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363" y="1127224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Convert Loyal Non-Subscribers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79363" y="1412379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72% of frequent buyers aren't subscribed — target them with member-only perks.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188" y="1897000"/>
            <a:ext cx="210369" cy="2103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9363" y="1892722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Invest in New-Customer Acquisition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79363" y="2177876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Only 2% of the base is "New" — top-of-funnel marketing deserves attention.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188" y="2662498"/>
            <a:ext cx="210369" cy="2103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9363" y="2658219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Redesign the Subscription Program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79363" y="2943374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 spend is identical to non-subscribers — perks need a clearer financial benefit.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188" y="3427995"/>
            <a:ext cx="210369" cy="2103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9363" y="3423717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Use Discounts More Surgically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979363" y="3708871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Discounts reach high spenders too — they can be targeted without sacrificing revenue.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188" y="4193493"/>
            <a:ext cx="210369" cy="2103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9363" y="4189214"/>
            <a:ext cx="7641059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Feature Top-Rated Products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979363" y="4474369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Clothing's dominance and strong ratings on Gloves, Sandals, and Boots make them safe bets for promotions.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2026-07-22T09:28:30Z</dcterms:created>
  <dcterms:modified xsi:type="dcterms:W3CDTF">2026-07-22T09:28:30Z</dcterms:modified>
</cp:coreProperties>
</file>